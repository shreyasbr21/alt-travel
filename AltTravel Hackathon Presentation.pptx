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Outfit"/>
      <p:regular r:id="rId21"/>
      <p:bold r:id="rId22"/>
    </p:embeddedFont>
    <p:embeddedFont>
      <p:font typeface="Fira Code SemiBold"/>
      <p:regular r:id="rId23"/>
      <p:bold r:id="rId24"/>
    </p:embeddedFont>
    <p:embeddedFont>
      <p:font typeface="Fira Code"/>
      <p:regular r:id="rId25"/>
      <p:bold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Outfit-bold.fntdata"/><Relationship Id="rId21" Type="http://schemas.openxmlformats.org/officeDocument/2006/relationships/font" Target="fonts/Outfit-regular.fntdata"/><Relationship Id="rId24" Type="http://schemas.openxmlformats.org/officeDocument/2006/relationships/font" Target="fonts/FiraCodeSemiBold-bold.fntdata"/><Relationship Id="rId23" Type="http://schemas.openxmlformats.org/officeDocument/2006/relationships/font" Target="fonts/FiraCode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Code-bold.fntdata"/><Relationship Id="rId25" Type="http://schemas.openxmlformats.org/officeDocument/2006/relationships/font" Target="fonts/FiraCode-regular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13" Type="http://schemas.openxmlformats.org/officeDocument/2006/relationships/image" Target="../media/image6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8.png"/><Relationship Id="rId15" Type="http://schemas.openxmlformats.org/officeDocument/2006/relationships/image" Target="../media/image17.png"/><Relationship Id="rId14" Type="http://schemas.openxmlformats.org/officeDocument/2006/relationships/image" Target="../media/image14.png"/><Relationship Id="rId16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45.png"/><Relationship Id="rId11" Type="http://schemas.openxmlformats.org/officeDocument/2006/relationships/image" Target="../media/image31.png"/><Relationship Id="rId22" Type="http://schemas.openxmlformats.org/officeDocument/2006/relationships/image" Target="../media/image38.png"/><Relationship Id="rId10" Type="http://schemas.openxmlformats.org/officeDocument/2006/relationships/image" Target="../media/image19.png"/><Relationship Id="rId21" Type="http://schemas.openxmlformats.org/officeDocument/2006/relationships/image" Target="../media/image33.png"/><Relationship Id="rId13" Type="http://schemas.openxmlformats.org/officeDocument/2006/relationships/image" Target="../media/image29.png"/><Relationship Id="rId12" Type="http://schemas.openxmlformats.org/officeDocument/2006/relationships/image" Target="../media/image20.png"/><Relationship Id="rId23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27.png"/><Relationship Id="rId15" Type="http://schemas.openxmlformats.org/officeDocument/2006/relationships/image" Target="../media/image26.png"/><Relationship Id="rId14" Type="http://schemas.openxmlformats.org/officeDocument/2006/relationships/image" Target="../media/image21.png"/><Relationship Id="rId17" Type="http://schemas.openxmlformats.org/officeDocument/2006/relationships/image" Target="../media/image23.png"/><Relationship Id="rId16" Type="http://schemas.openxmlformats.org/officeDocument/2006/relationships/image" Target="../media/image34.png"/><Relationship Id="rId5" Type="http://schemas.openxmlformats.org/officeDocument/2006/relationships/image" Target="../media/image18.png"/><Relationship Id="rId19" Type="http://schemas.openxmlformats.org/officeDocument/2006/relationships/image" Target="../media/image30.png"/><Relationship Id="rId6" Type="http://schemas.openxmlformats.org/officeDocument/2006/relationships/image" Target="../media/image22.png"/><Relationship Id="rId18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37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5.png"/><Relationship Id="rId11" Type="http://schemas.openxmlformats.org/officeDocument/2006/relationships/image" Target="../media/image42.png"/><Relationship Id="rId22" Type="http://schemas.openxmlformats.org/officeDocument/2006/relationships/image" Target="../media/image58.png"/><Relationship Id="rId10" Type="http://schemas.openxmlformats.org/officeDocument/2006/relationships/image" Target="../media/image40.png"/><Relationship Id="rId21" Type="http://schemas.openxmlformats.org/officeDocument/2006/relationships/image" Target="../media/image52.png"/><Relationship Id="rId13" Type="http://schemas.openxmlformats.org/officeDocument/2006/relationships/image" Target="../media/image51.png"/><Relationship Id="rId12" Type="http://schemas.openxmlformats.org/officeDocument/2006/relationships/image" Target="../media/image46.png"/><Relationship Id="rId23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44.png"/><Relationship Id="rId15" Type="http://schemas.openxmlformats.org/officeDocument/2006/relationships/image" Target="../media/image49.png"/><Relationship Id="rId14" Type="http://schemas.openxmlformats.org/officeDocument/2006/relationships/image" Target="../media/image48.png"/><Relationship Id="rId17" Type="http://schemas.openxmlformats.org/officeDocument/2006/relationships/image" Target="../media/image47.png"/><Relationship Id="rId16" Type="http://schemas.openxmlformats.org/officeDocument/2006/relationships/image" Target="../media/image56.png"/><Relationship Id="rId5" Type="http://schemas.openxmlformats.org/officeDocument/2006/relationships/image" Target="../media/image43.png"/><Relationship Id="rId19" Type="http://schemas.openxmlformats.org/officeDocument/2006/relationships/image" Target="../media/image93.png"/><Relationship Id="rId6" Type="http://schemas.openxmlformats.org/officeDocument/2006/relationships/image" Target="../media/image39.png"/><Relationship Id="rId18" Type="http://schemas.openxmlformats.org/officeDocument/2006/relationships/image" Target="../media/image50.png"/><Relationship Id="rId7" Type="http://schemas.openxmlformats.org/officeDocument/2006/relationships/image" Target="../media/image35.png"/><Relationship Id="rId8" Type="http://schemas.openxmlformats.org/officeDocument/2006/relationships/image" Target="../media/image41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7.png"/><Relationship Id="rId10" Type="http://schemas.openxmlformats.org/officeDocument/2006/relationships/image" Target="../media/image53.png"/><Relationship Id="rId13" Type="http://schemas.openxmlformats.org/officeDocument/2006/relationships/image" Target="../media/image82.pn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16.png"/><Relationship Id="rId9" Type="http://schemas.openxmlformats.org/officeDocument/2006/relationships/image" Target="../media/image61.png"/><Relationship Id="rId15" Type="http://schemas.openxmlformats.org/officeDocument/2006/relationships/image" Target="../media/image68.png"/><Relationship Id="rId14" Type="http://schemas.openxmlformats.org/officeDocument/2006/relationships/image" Target="../media/image65.png"/><Relationship Id="rId17" Type="http://schemas.openxmlformats.org/officeDocument/2006/relationships/image" Target="../media/image70.png"/><Relationship Id="rId16" Type="http://schemas.openxmlformats.org/officeDocument/2006/relationships/image" Target="../media/image64.png"/><Relationship Id="rId5" Type="http://schemas.openxmlformats.org/officeDocument/2006/relationships/image" Target="../media/image71.png"/><Relationship Id="rId6" Type="http://schemas.openxmlformats.org/officeDocument/2006/relationships/image" Target="../media/image66.png"/><Relationship Id="rId18" Type="http://schemas.openxmlformats.org/officeDocument/2006/relationships/image" Target="../media/image62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78.png"/><Relationship Id="rId22" Type="http://schemas.openxmlformats.org/officeDocument/2006/relationships/image" Target="../media/image87.png"/><Relationship Id="rId21" Type="http://schemas.openxmlformats.org/officeDocument/2006/relationships/image" Target="../media/image90.png"/><Relationship Id="rId24" Type="http://schemas.openxmlformats.org/officeDocument/2006/relationships/image" Target="../media/image86.png"/><Relationship Id="rId23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67.png"/><Relationship Id="rId26" Type="http://schemas.openxmlformats.org/officeDocument/2006/relationships/image" Target="../media/image79.png"/><Relationship Id="rId25" Type="http://schemas.openxmlformats.org/officeDocument/2006/relationships/image" Target="../media/image96.png"/><Relationship Id="rId5" Type="http://schemas.openxmlformats.org/officeDocument/2006/relationships/image" Target="../media/image73.png"/><Relationship Id="rId6" Type="http://schemas.openxmlformats.org/officeDocument/2006/relationships/image" Target="../media/image69.png"/><Relationship Id="rId7" Type="http://schemas.openxmlformats.org/officeDocument/2006/relationships/image" Target="../media/image74.png"/><Relationship Id="rId8" Type="http://schemas.openxmlformats.org/officeDocument/2006/relationships/image" Target="../media/image103.png"/><Relationship Id="rId11" Type="http://schemas.openxmlformats.org/officeDocument/2006/relationships/image" Target="../media/image80.png"/><Relationship Id="rId10" Type="http://schemas.openxmlformats.org/officeDocument/2006/relationships/image" Target="../media/image72.png"/><Relationship Id="rId13" Type="http://schemas.openxmlformats.org/officeDocument/2006/relationships/image" Target="../media/image76.png"/><Relationship Id="rId12" Type="http://schemas.openxmlformats.org/officeDocument/2006/relationships/image" Target="../media/image81.png"/><Relationship Id="rId15" Type="http://schemas.openxmlformats.org/officeDocument/2006/relationships/image" Target="../media/image89.png"/><Relationship Id="rId14" Type="http://schemas.openxmlformats.org/officeDocument/2006/relationships/image" Target="../media/image83.png"/><Relationship Id="rId17" Type="http://schemas.openxmlformats.org/officeDocument/2006/relationships/image" Target="../media/image100.png"/><Relationship Id="rId16" Type="http://schemas.openxmlformats.org/officeDocument/2006/relationships/image" Target="../media/image84.png"/><Relationship Id="rId19" Type="http://schemas.openxmlformats.org/officeDocument/2006/relationships/image" Target="../media/image85.png"/><Relationship Id="rId18" Type="http://schemas.openxmlformats.org/officeDocument/2006/relationships/image" Target="../media/image7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92.png"/><Relationship Id="rId5" Type="http://schemas.openxmlformats.org/officeDocument/2006/relationships/image" Target="../media/image39.png"/><Relationship Id="rId6" Type="http://schemas.openxmlformats.org/officeDocument/2006/relationships/image" Target="../media/image91.png"/><Relationship Id="rId7" Type="http://schemas.openxmlformats.org/officeDocument/2006/relationships/image" Target="../media/image94.png"/><Relationship Id="rId8" Type="http://schemas.openxmlformats.org/officeDocument/2006/relationships/image" Target="../media/image102.png"/><Relationship Id="rId11" Type="http://schemas.openxmlformats.org/officeDocument/2006/relationships/image" Target="../media/image95.png"/><Relationship Id="rId10" Type="http://schemas.openxmlformats.org/officeDocument/2006/relationships/image" Target="../media/image97.png"/><Relationship Id="rId13" Type="http://schemas.openxmlformats.org/officeDocument/2006/relationships/image" Target="../media/image98.png"/><Relationship Id="rId12" Type="http://schemas.openxmlformats.org/officeDocument/2006/relationships/image" Target="../media/image99.png"/><Relationship Id="rId1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18344"/>
            <a:ext cx="25908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6338887"/>
            <a:ext cx="6849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ALTTRAVEL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06850" y="6334125"/>
            <a:ext cx="246890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43F5E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TIME REMAINING: 0H 00M (SHIPPED)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663237" y="6338887"/>
            <a:ext cx="9572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PITCH SLIDE 1/7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1994594"/>
            <a:ext cx="2802537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AltTravel.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2779365"/>
            <a:ext cx="7277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Combat Overtourism with AI-Powered Alternative Destination Discovery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324609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 interactive, dark-themed, highly scalable framework engineered in 8 hours to intercept searches for congested landmarks, instantly rerouting travelers to equally stunning, low-density alternative sites using aesthetic vector embeddings and dynamic geolocation passes.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3883" y="6353175"/>
            <a:ext cx="105816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461084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8925" y="461084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45375" y="46108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095375" y="4539406"/>
            <a:ext cx="1600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Fully Functional MVP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095375" y="4739431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Shipped and deployed today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4870400" y="4539406"/>
            <a:ext cx="154019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Async Python Backend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870400" y="4739431"/>
            <a:ext cx="1466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Ultra-fast response models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8616850" y="4539406"/>
            <a:ext cx="176022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Sustainable Eco-Pass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616850" y="4739431"/>
            <a:ext cx="167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Direct incentivized footfall shift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085850"/>
            <a:ext cx="53340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085850"/>
            <a:ext cx="53340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4467225"/>
            <a:ext cx="4857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The Overtourism Crisis &amp; </a:t>
            </a:r>
            <a:r>
              <a:rPr b="1" i="0" lang="en-US" sz="24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Redirection Solution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571500" y="6338887"/>
            <a:ext cx="6849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ALTTRAVEL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5293965" y="6334125"/>
            <a:ext cx="146595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43F5E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DELIVERED IN SPRINT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634513" y="6338887"/>
            <a:ext cx="9858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PITCH SLIDE 2/7</a:t>
            </a:r>
            <a:endParaRPr/>
          </a:p>
        </p:txBody>
      </p:sp>
      <p:pic>
        <p:nvPicPr>
          <p:cNvPr descr="image.png" id="117" name="Google Shape;1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30998" y="6353175"/>
            <a:ext cx="105816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1072604" y="1323975"/>
            <a:ext cx="4824509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3F5E"/>
                </a:solidFill>
                <a:latin typeface="Outfit"/>
                <a:ea typeface="Outfit"/>
                <a:cs typeface="Outfit"/>
                <a:sym typeface="Outfit"/>
              </a:rPr>
              <a:t>Saturated Hotspots facing Collapse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09625" y="1676400"/>
            <a:ext cx="4857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Popular cultural heritage hubs suffer under extreme, concentrated visitor traffic.</a:t>
            </a:r>
            <a:endParaRPr/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4476750"/>
            <a:ext cx="18669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6787604" y="1323975"/>
            <a:ext cx="4824509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Intelligent Swapping Model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524625" y="1676400"/>
            <a:ext cx="4857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AltTravel intercepts high-density queries, offering immediate alternate matches.</a:t>
            </a:r>
            <a:endParaRPr/>
          </a:p>
        </p:txBody>
      </p:sp>
      <p:pic>
        <p:nvPicPr>
          <p:cNvPr descr="image.png" id="123" name="Google Shape;12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48450" y="560070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6877050" y="5614987"/>
            <a:ext cx="4362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9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 Redistributes economic benefits, reduces bottleneck peak-hour footprint.</a:t>
            </a:r>
            <a:endParaRPr/>
          </a:p>
        </p:txBody>
      </p:sp>
      <p:pic>
        <p:nvPicPr>
          <p:cNvPr descr="image.png" id="125" name="Google Shape;12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1347787"/>
            <a:ext cx="186779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981075" y="2219325"/>
            <a:ext cx="4686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Taj Mahal: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96% crowd index, severe daily queues (30k+ visitors).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81075" y="2547937"/>
            <a:ext cx="46863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Santorini &amp; Venice: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Up to 98% congestion, critical ecosystem fatigue.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81075" y="3090862"/>
            <a:ext cx="46863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Manali (Hill Station):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Overloaded valley bottlenecks, 94% congestion.</a:t>
            </a:r>
            <a:endParaRPr/>
          </a:p>
        </p:txBody>
      </p:sp>
      <p:pic>
        <p:nvPicPr>
          <p:cNvPr descr="image.png" id="129" name="Google Shape;12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24625" y="1347787"/>
            <a:ext cx="186779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6753225" y="2219325"/>
            <a:ext cx="4629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Aesthetic Vector Match: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Generates semantic suggestions utilizing layout, history, and structural vibes (e.g., Orchha).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6753225" y="2762250"/>
            <a:ext cx="4629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Time Dispersion: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Hour-by-hour forecast graphs (8 AM - 10 PM) advise travelers of localized quiet zones.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753225" y="3305175"/>
            <a:ext cx="4629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Eco-Pass Incentives: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Connects local merchants to distribute QR voucher passes to travelers.</a:t>
            </a:r>
            <a:endParaRPr/>
          </a:p>
        </p:txBody>
      </p:sp>
      <p:pic>
        <p:nvPicPr>
          <p:cNvPr descr="image.png" id="133" name="Google Shape;133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625" y="227647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625" y="2605087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625" y="314801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24625" y="224313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24625" y="278606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24625" y="3328987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085850"/>
            <a:ext cx="35559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085850"/>
            <a:ext cx="35559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085850"/>
            <a:ext cx="355609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705225"/>
            <a:ext cx="35559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17950" y="3705225"/>
            <a:ext cx="7302549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714375" y="476250"/>
            <a:ext cx="10906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Platform Capabilities </a:t>
            </a:r>
            <a:r>
              <a:rPr b="1" i="0" lang="en-US" sz="24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&amp; Delivery Status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48850" y="566737"/>
            <a:ext cx="17716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571500" y="6338887"/>
            <a:ext cx="6849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ALTTRAVEL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5120133" y="6334125"/>
            <a:ext cx="18517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43F5E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GITHUB SPRINT: COMMITTED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634513" y="6338887"/>
            <a:ext cx="9858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PITCH SLIDE 3/7</a:t>
            </a:r>
            <a:endParaRPr/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9067" y="6353175"/>
            <a:ext cx="143916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809625" y="1657350"/>
            <a:ext cx="32336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Dynamic Forecasting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09625" y="1905000"/>
            <a:ext cx="3079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Sinusoidal crowd density engine adjusts indices on a time slider (8 AM - 10 PM) for flexible planning.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4556075" y="1657350"/>
            <a:ext cx="32336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Eco-Pass Verification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4556075" y="1905000"/>
            <a:ext cx="3079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Active geolocation verification limits (0.05° = 5.5km) giving offline-capable regional discount vouchers.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8302525" y="1657350"/>
            <a:ext cx="323384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Anti-Algorithmic Itinerary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8302525" y="1905000"/>
            <a:ext cx="307984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Balanced route framework swaps overcrowded spots with serene equivalents in 1-click.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809625" y="4276725"/>
            <a:ext cx="323368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UG Field Reports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809625" y="4524375"/>
            <a:ext cx="3079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Vibe log reports with EXIF photo metadata auto-stripping for privacy-safe regional uploads.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4556075" y="4276725"/>
            <a:ext cx="71676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B2B Tourism Analytics Dashboard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4556075" y="4524375"/>
            <a:ext cx="68262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passcode-protected administration panel rendering live deflection metrics, hotspot trends, and spatial allocation analytics for municipal boards.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6061025" y="4920555"/>
            <a:ext cx="532134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 Passcode Authenticated  Real-time Dispersion Indicators</a:t>
            </a:r>
            <a:endParaRPr/>
          </a:p>
        </p:txBody>
      </p:sp>
      <p:pic>
        <p:nvPicPr>
          <p:cNvPr descr="image.png" id="168" name="Google Shape;16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84500" y="1323975"/>
            <a:ext cx="5048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30950" y="1323975"/>
            <a:ext cx="5048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877550" y="1323975"/>
            <a:ext cx="5048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251150" y="3943350"/>
            <a:ext cx="6381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77450" y="3943350"/>
            <a:ext cx="13049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09625" y="13477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556075" y="13477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302525" y="13477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09625" y="39671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556075" y="39671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556075" y="4939605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061025" y="4939605"/>
            <a:ext cx="104775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085850"/>
            <a:ext cx="53340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085850"/>
            <a:ext cx="53340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1685925"/>
            <a:ext cx="48577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2314575"/>
            <a:ext cx="48577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943225"/>
            <a:ext cx="48577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714375" y="476250"/>
            <a:ext cx="10906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Architecture </a:t>
            </a:r>
            <a:r>
              <a:rPr b="1" i="0" lang="en-US" sz="24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&amp; Hackathon Stack</a:t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3" name="Google Shape;19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82225" y="566737"/>
            <a:ext cx="14382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571500" y="6338887"/>
            <a:ext cx="6849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ALTTRAVEL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5216872" y="6334125"/>
            <a:ext cx="162029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43F5E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SYSTEM STATUS: ONLINE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0634662" y="6338887"/>
            <a:ext cx="9858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PITCH SLIDE 4/7</a:t>
            </a:r>
            <a:endParaRPr/>
          </a:p>
        </p:txBody>
      </p:sp>
      <p:pic>
        <p:nvPicPr>
          <p:cNvPr descr="image.png" id="197" name="Google Shape;19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53905" y="6353175"/>
            <a:ext cx="105816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6524625" y="5623619"/>
            <a:ext cx="4857750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Deployed and live via Vercel (Frontend Edge) + Render (Container Backend). PostgreSQL Ready.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809625" y="1323975"/>
            <a:ext cx="51006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8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Shipped Capabilities (8h constraints)</a:t>
            </a:r>
            <a:endParaRPr/>
          </a:p>
        </p:txBody>
      </p:sp>
      <p:pic>
        <p:nvPicPr>
          <p:cNvPr descr="image.png" id="200" name="Google Shape;20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5779889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 txBox="1"/>
          <p:nvPr/>
        </p:nvSpPr>
        <p:spPr>
          <a:xfrm>
            <a:off x="6524625" y="1323975"/>
            <a:ext cx="51006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8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Implemented Stack</a:t>
            </a:r>
            <a:endParaRPr/>
          </a:p>
        </p:txBody>
      </p:sp>
      <p:pic>
        <p:nvPicPr>
          <p:cNvPr descr="image.png" id="202" name="Google Shape;20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24625" y="5642669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625" y="1352550"/>
            <a:ext cx="14897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24625" y="1352550"/>
            <a:ext cx="16802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809625" y="1685925"/>
            <a:ext cx="51006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TRAVELERS ENGINE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809625" y="1857375"/>
            <a:ext cx="4857750" cy="142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Working aesthetic lookup algorithm, density visual dials, offline-ready check-in models.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809625" y="2113954"/>
            <a:ext cx="51006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TOURISM BOARD MODULE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809625" y="2285404"/>
            <a:ext cx="4857750" cy="142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Passcode-protected dashboard with live conversion analytics and dispersion KPIs.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809625" y="2541984"/>
            <a:ext cx="51006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DEVOPS EXECUTION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809625" y="2713434"/>
            <a:ext cx="4857750" cy="284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Async backend scales to zero, Docker optimized container builds, zero-cost edge tier deployment.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6686550" y="1852612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6686550" y="2481262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API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6686550" y="3109912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Infrastructure</a:t>
            </a:r>
            <a:endParaRPr/>
          </a:p>
        </p:txBody>
      </p:sp>
      <p:pic>
        <p:nvPicPr>
          <p:cNvPr descr="image.png" id="214" name="Google Shape;214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686675" y="1809750"/>
            <a:ext cx="11430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905875" y="1809750"/>
            <a:ext cx="10096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991725" y="1809750"/>
            <a:ext cx="12096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686675" y="2438400"/>
            <a:ext cx="1076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839200" y="2438400"/>
            <a:ext cx="9429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858375" y="2438400"/>
            <a:ext cx="11430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686675" y="3067050"/>
            <a:ext cx="6096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372475" y="3067050"/>
            <a:ext cx="6096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058275" y="3067050"/>
            <a:ext cx="114300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085850"/>
            <a:ext cx="53340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2219325"/>
            <a:ext cx="49339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343025"/>
            <a:ext cx="53340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0" y="3219450"/>
            <a:ext cx="1857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4171950"/>
            <a:ext cx="49339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4638675"/>
            <a:ext cx="49339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7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Interactive Live Demo </a:t>
            </a:r>
            <a:r>
              <a:rPr b="1" i="0" lang="en-US" sz="24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&amp; API Gateway</a:t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571500" y="6338887"/>
            <a:ext cx="6849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ALTTRAVEL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5120133" y="6334125"/>
            <a:ext cx="185171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43F5E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ENDPOINTS DEMO: VERIFIED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10634513" y="6338887"/>
            <a:ext cx="9858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PITCH SLIDE 5/7</a:t>
            </a:r>
            <a:endParaRPr/>
          </a:p>
        </p:txBody>
      </p:sp>
      <p:pic>
        <p:nvPicPr>
          <p:cNvPr descr="image.png" id="240" name="Google Shape;24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9067" y="6353175"/>
            <a:ext cx="143916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7"/>
          <p:cNvSpPr txBox="1"/>
          <p:nvPr/>
        </p:nvSpPr>
        <p:spPr>
          <a:xfrm>
            <a:off x="8210550" y="1285875"/>
            <a:ext cx="3209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VIEWPORT LIVE COORDINATES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7810500" y="5762625"/>
            <a:ext cx="3609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Map Bounds: Central India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571500" y="1085850"/>
            <a:ext cx="5600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Working API Endpoints Developed:</a:t>
            </a:r>
            <a:endParaRPr/>
          </a:p>
        </p:txBody>
      </p:sp>
      <p:pic>
        <p:nvPicPr>
          <p:cNvPr descr="image.png" id="244" name="Google Shape;24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6275" y="5907881"/>
            <a:ext cx="114300" cy="10953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7"/>
          <p:cNvSpPr txBox="1"/>
          <p:nvPr/>
        </p:nvSpPr>
        <p:spPr>
          <a:xfrm>
            <a:off x="866775" y="5895975"/>
            <a:ext cx="37623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Intercepted "Taj Mahal" query redirects seamlessly with zero-lag routing.</a:t>
            </a:r>
            <a:endParaRPr/>
          </a:p>
        </p:txBody>
      </p:sp>
      <p:pic>
        <p:nvPicPr>
          <p:cNvPr descr="image.png" id="246" name="Google Shape;246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63225" y="1285875"/>
            <a:ext cx="8572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96050" y="2228850"/>
            <a:ext cx="18764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72750" y="5762625"/>
            <a:ext cx="8477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71500" y="1104900"/>
            <a:ext cx="1019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7"/>
          <p:cNvSpPr txBox="1"/>
          <p:nvPr/>
        </p:nvSpPr>
        <p:spPr>
          <a:xfrm>
            <a:off x="733425" y="1743075"/>
            <a:ext cx="2867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GET /api/swap?destination=Taj+Mahal&amp;hour=14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733425" y="1743075"/>
            <a:ext cx="4733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{ "hotspot": "Taj Mahal", "density_index": 96, "alternatives": [ { "name": "Orchha Palace", "density_index": 34, "aesthetic_match": "92%", "traits": ["River View", "Historic Fort"] } ] }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733425" y="2447925"/>
            <a:ext cx="5010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GET /api/health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733425" y="2600325"/>
            <a:ext cx="3267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{ "status": "active", "gemini_api": "connected" }</a:t>
            </a:r>
            <a:endParaRPr/>
          </a:p>
        </p:txBody>
      </p:sp>
      <p:pic>
        <p:nvPicPr>
          <p:cNvPr descr="image.png" id="254" name="Google Shape;254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486525" y="1347787"/>
            <a:ext cx="1143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86525" y="5800725"/>
            <a:ext cx="95250" cy="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96754"/>
            <a:ext cx="11049000" cy="1383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39391"/>
            <a:ext cx="3555950" cy="152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7950" y="2039391"/>
            <a:ext cx="3555950" cy="152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4400" y="2039391"/>
            <a:ext cx="3556099" cy="152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311104"/>
            <a:ext cx="2536031" cy="631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88531" y="4311104"/>
            <a:ext cx="2536031" cy="631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67437" y="4311104"/>
            <a:ext cx="2536031" cy="631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846343" y="4311104"/>
            <a:ext cx="2536031" cy="63132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8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Post-Hackathon Roadmap </a:t>
            </a:r>
            <a:r>
              <a:rPr b="1" i="0" lang="en-US" sz="24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&amp; Commercial Viability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571500" y="6338887"/>
            <a:ext cx="6849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ALTTRAVEL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5023991" y="6334125"/>
            <a:ext cx="20060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43F5E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TRANSITION TO GO-TO-MARKET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10634662" y="6338887"/>
            <a:ext cx="9858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PITCH SLIDE 6/7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1025872" y="4034879"/>
            <a:ext cx="1087432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Sustainable Revenue Streams</a:t>
            </a:r>
            <a:endParaRPr/>
          </a:p>
        </p:txBody>
      </p:sp>
      <p:pic>
        <p:nvPicPr>
          <p:cNvPr descr="image.png" id="276" name="Google Shape;276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61024" y="6353175"/>
            <a:ext cx="105816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25" y="4053929"/>
            <a:ext cx="1400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8"/>
          <p:cNvSpPr txBox="1"/>
          <p:nvPr/>
        </p:nvSpPr>
        <p:spPr>
          <a:xfrm>
            <a:off x="733425" y="2234654"/>
            <a:ext cx="8982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Phase 2 (M 1-3)</a:t>
            </a:r>
            <a:endParaRPr/>
          </a:p>
        </p:txBody>
      </p:sp>
      <p:pic>
        <p:nvPicPr>
          <p:cNvPr descr="image.png" id="279" name="Google Shape;279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260675" y="2201316"/>
            <a:ext cx="704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/>
        </p:nvSpPr>
        <p:spPr>
          <a:xfrm>
            <a:off x="933450" y="2534691"/>
            <a:ext cx="30320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 Native native app wrapper.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981075" y="2825204"/>
            <a:ext cx="29844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Google Trends social indexing APIs.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1000125" y="3115716"/>
            <a:ext cx="29654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Affiliate redirects (Booking/Airbnb).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4479875" y="2234654"/>
            <a:ext cx="9482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Phase 3 (M 4-6)</a:t>
            </a:r>
            <a:endParaRPr/>
          </a:p>
        </p:txBody>
      </p:sp>
      <p:pic>
        <p:nvPicPr>
          <p:cNvPr descr="image.png" id="284" name="Google Shape;284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007125" y="2201316"/>
            <a:ext cx="704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8"/>
          <p:cNvSpPr txBox="1"/>
          <p:nvPr/>
        </p:nvSpPr>
        <p:spPr>
          <a:xfrm>
            <a:off x="4708475" y="2534691"/>
            <a:ext cx="30035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Vibe customization filters (culture/food).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4746575" y="2825204"/>
            <a:ext cx="29654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Multi-language localization overlays.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4708475" y="3115716"/>
            <a:ext cx="30035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Predictive multi-week crowd models.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8226325" y="2234654"/>
            <a:ext cx="9854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Phase 4 (M 6-12)</a:t>
            </a:r>
            <a:endParaRPr/>
          </a:p>
        </p:txBody>
      </p:sp>
      <p:pic>
        <p:nvPicPr>
          <p:cNvPr descr="image.png" id="289" name="Google Shape;289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753725" y="2201316"/>
            <a:ext cx="704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8"/>
          <p:cNvSpPr txBox="1"/>
          <p:nvPr/>
        </p:nvSpPr>
        <p:spPr>
          <a:xfrm>
            <a:off x="8493025" y="2534691"/>
            <a:ext cx="296554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Panoramic VR preview tours of sites.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8493025" y="2825204"/>
            <a:ext cx="296554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High-end eco-lodge partnerships.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8454925" y="3115716"/>
            <a:ext cx="3003649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Tourism Ministry data licensing licensing.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904875" y="4406354"/>
            <a:ext cx="24628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2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1. B2B Analytics SaaS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904875" y="4587329"/>
            <a:ext cx="2345531" cy="259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Tourism boards pay $500 - $5k/mo for dispersion tracking.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3583781" y="4406354"/>
            <a:ext cx="24628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2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2. Booking Commission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3583781" y="4587329"/>
            <a:ext cx="2345531" cy="259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5-10% fee on bookings redirecting to uncrowded local stays.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6262687" y="4406354"/>
            <a:ext cx="24628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2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3. Premium Builder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6262687" y="4587329"/>
            <a:ext cx="2345531" cy="259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$4.99/mo premium custom uncrowded multicity plans.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8941593" y="4406354"/>
            <a:ext cx="24628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2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4. Anonymized Data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8941593" y="4587329"/>
            <a:ext cx="2345531" cy="259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Licensing crowd data trends to developers and researchers.</a:t>
            </a:r>
            <a:endParaRPr/>
          </a:p>
        </p:txBody>
      </p:sp>
      <p:pic>
        <p:nvPicPr>
          <p:cNvPr descr="image.png" id="301" name="Google Shape;301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33425" y="2568029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33425" y="2858541"/>
            <a:ext cx="1524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33425" y="3149054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479875" y="2568029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1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479875" y="2858541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1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479875" y="314905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1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226325" y="2568029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1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226325" y="2858541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1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226325" y="3149054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085850"/>
            <a:ext cx="53340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085850"/>
            <a:ext cx="5334000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1323975"/>
            <a:ext cx="48577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1685925"/>
            <a:ext cx="2357437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24937" y="1685925"/>
            <a:ext cx="2357437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2695575"/>
            <a:ext cx="4857750" cy="80188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9"/>
          <p:cNvSpPr txBox="1"/>
          <p:nvPr/>
        </p:nvSpPr>
        <p:spPr>
          <a:xfrm>
            <a:off x="714375" y="476250"/>
            <a:ext cx="114514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Development Timeline &amp; </a:t>
            </a:r>
            <a:r>
              <a:rPr b="1" i="0" lang="en-US" sz="24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Success Targets</a:t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571500" y="476250"/>
            <a:ext cx="47625" cy="381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571500" y="6338887"/>
            <a:ext cx="6849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ALTTRAVEL</a:t>
            </a:r>
            <a:endParaRPr/>
          </a:p>
        </p:txBody>
      </p:sp>
      <p:sp>
        <p:nvSpPr>
          <p:cNvPr id="325" name="Google Shape;325;p19"/>
          <p:cNvSpPr txBox="1"/>
          <p:nvPr/>
        </p:nvSpPr>
        <p:spPr>
          <a:xfrm>
            <a:off x="5038278" y="6334125"/>
            <a:ext cx="20060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43F5E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CHOSEN BY JUDGES • SHIPPED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10644187" y="6338887"/>
            <a:ext cx="9763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PITCH SLIDE 7/7</a:t>
            </a:r>
            <a:endParaRPr/>
          </a:p>
        </p:txBody>
      </p:sp>
      <p:pic>
        <p:nvPicPr>
          <p:cNvPr descr="image.png" id="327" name="Google Shape;327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6261" y="6353175"/>
            <a:ext cx="124866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9"/>
          <p:cNvSpPr txBox="1"/>
          <p:nvPr/>
        </p:nvSpPr>
        <p:spPr>
          <a:xfrm>
            <a:off x="809625" y="5759797"/>
            <a:ext cx="4857750" cy="136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Sprint Allocation:</a:t>
            </a: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Backend/API: 40% | Frontend/Map: 30% | DevOps: 20% | DB Schema: 10%</a:t>
            </a:r>
            <a:endParaRPr/>
          </a:p>
        </p:txBody>
      </p:sp>
      <p:sp>
        <p:nvSpPr>
          <p:cNvPr id="329" name="Google Shape;329;p19"/>
          <p:cNvSpPr txBox="1"/>
          <p:nvPr/>
        </p:nvSpPr>
        <p:spPr>
          <a:xfrm>
            <a:off x="809625" y="1323975"/>
            <a:ext cx="51006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5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Rapid Sprint Delivery Timeline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809625" y="1657350"/>
            <a:ext cx="4857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Target milestones built to demonstrate project momentum starting today.</a:t>
            </a:r>
            <a:endParaRPr/>
          </a:p>
        </p:txBody>
      </p:sp>
      <p:sp>
        <p:nvSpPr>
          <p:cNvPr id="331" name="Google Shape;331;p19"/>
          <p:cNvSpPr txBox="1"/>
          <p:nvPr/>
        </p:nvSpPr>
        <p:spPr>
          <a:xfrm>
            <a:off x="6524625" y="1323975"/>
            <a:ext cx="51006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8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Core Target KPIs</a:t>
            </a:r>
            <a:endParaRPr/>
          </a:p>
        </p:txBody>
      </p:sp>
      <p:pic>
        <p:nvPicPr>
          <p:cNvPr descr="image.png" id="332" name="Google Shape;332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72325" y="5676900"/>
            <a:ext cx="114300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9"/>
          <p:cNvSpPr txBox="1"/>
          <p:nvPr/>
        </p:nvSpPr>
        <p:spPr>
          <a:xfrm>
            <a:off x="7315200" y="5657850"/>
            <a:ext cx="11620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Break-Even Feasibility:</a:t>
            </a:r>
            <a:endParaRPr/>
          </a:p>
        </p:txBody>
      </p:sp>
      <p:pic>
        <p:nvPicPr>
          <p:cNvPr descr="image.png" id="334" name="Google Shape;334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9625" y="1352550"/>
            <a:ext cx="215651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24625" y="1352550"/>
            <a:ext cx="16802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9"/>
          <p:cNvSpPr txBox="1"/>
          <p:nvPr/>
        </p:nvSpPr>
        <p:spPr>
          <a:xfrm>
            <a:off x="6677025" y="1838325"/>
            <a:ext cx="20526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50%+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6677025" y="2257425"/>
            <a:ext cx="20526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Crowd Reduction</a:t>
            </a:r>
            <a:endParaRPr/>
          </a:p>
        </p:txBody>
      </p:sp>
      <p:sp>
        <p:nvSpPr>
          <p:cNvPr id="338" name="Google Shape;338;p19"/>
          <p:cNvSpPr txBox="1"/>
          <p:nvPr/>
        </p:nvSpPr>
        <p:spPr>
          <a:xfrm>
            <a:off x="9177337" y="1838325"/>
            <a:ext cx="20526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34%</a:t>
            </a:r>
            <a:endParaRPr/>
          </a:p>
        </p:txBody>
      </p:sp>
      <p:sp>
        <p:nvSpPr>
          <p:cNvPr id="339" name="Google Shape;339;p19"/>
          <p:cNvSpPr txBox="1"/>
          <p:nvPr/>
        </p:nvSpPr>
        <p:spPr>
          <a:xfrm>
            <a:off x="9177337" y="2257425"/>
            <a:ext cx="20526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Deflection Rate</a:t>
            </a:r>
            <a:endParaRPr/>
          </a:p>
        </p:txBody>
      </p:sp>
      <p:sp>
        <p:nvSpPr>
          <p:cNvPr id="340" name="Google Shape;340;p19"/>
          <p:cNvSpPr txBox="1"/>
          <p:nvPr/>
        </p:nvSpPr>
        <p:spPr>
          <a:xfrm>
            <a:off x="6677025" y="2847975"/>
            <a:ext cx="478059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Long-Term Environmental Impact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6677025" y="3038475"/>
            <a:ext cx="4552950" cy="306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2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Reduces structural decay by distributing footfalls, preserving fragile heritage. Lowers localized CO₂ footprint spikes around peak-season destinations.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